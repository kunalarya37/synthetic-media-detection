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sk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1188720" cy="1188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03120" y="320040"/>
            <a:ext cx="93570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dirty="0">
                <a:solidFill>
                  <a:srgbClr val="0F2B5C"/>
                </a:solidFill>
                <a:latin typeface="Times New Roman"/>
              </a:rPr>
              <a:t>Swami </a:t>
            </a:r>
            <a:r>
              <a:rPr sz="2600" b="1" dirty="0" err="1">
                <a:solidFill>
                  <a:srgbClr val="0F2B5C"/>
                </a:solidFill>
                <a:latin typeface="Times New Roman"/>
              </a:rPr>
              <a:t>Keshvanand</a:t>
            </a:r>
            <a:r>
              <a:rPr sz="2600" b="1" dirty="0">
                <a:solidFill>
                  <a:srgbClr val="0F2B5C"/>
                </a:solidFill>
                <a:latin typeface="Times New Roman"/>
              </a:rPr>
              <a:t> Institute of Technology, Management &amp; </a:t>
            </a:r>
            <a:r>
              <a:rPr sz="2600" b="1" dirty="0" err="1">
                <a:solidFill>
                  <a:srgbClr val="0F2B5C"/>
                </a:solidFill>
                <a:latin typeface="Times New Roman"/>
              </a:rPr>
              <a:t>Gramothan</a:t>
            </a:r>
            <a:r>
              <a:rPr sz="2600" b="1" dirty="0">
                <a:solidFill>
                  <a:srgbClr val="0F2B5C"/>
                </a:solidFill>
                <a:latin typeface="Times New Roman"/>
              </a:rPr>
              <a:t>, Jaipur</a:t>
            </a:r>
          </a:p>
          <a:p>
            <a:pPr algn="ctr"/>
            <a:r>
              <a:rPr sz="1800" b="1" dirty="0">
                <a:solidFill>
                  <a:srgbClr val="64748B"/>
                </a:solidFill>
                <a:latin typeface="Times New Roman"/>
              </a:rPr>
              <a:t>Department of Computer Science and Engineering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00200"/>
            <a:ext cx="10728655" cy="2148840"/>
          </a:xfrm>
          <a:prstGeom prst="rect">
            <a:avLst/>
          </a:prstGeom>
          <a:solidFill>
            <a:srgbClr val="F8FAFC"/>
          </a:solidFill>
          <a:ln w="2286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10362895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dirty="0">
                <a:solidFill>
                  <a:srgbClr val="0284C7"/>
                </a:solidFill>
                <a:latin typeface="Times New Roman"/>
              </a:rPr>
              <a:t>Industrial Training Presentation</a:t>
            </a:r>
            <a:endParaRPr lang="en-US" sz="3200" b="1" dirty="0">
              <a:solidFill>
                <a:srgbClr val="0284C7"/>
              </a:solidFill>
              <a:latin typeface="Times New Roman"/>
            </a:endParaRPr>
          </a:p>
          <a:p>
            <a:pPr algn="ctr"/>
            <a:r>
              <a:rPr sz="1800" b="1" dirty="0">
                <a:solidFill>
                  <a:srgbClr val="0284C7"/>
                </a:solidFill>
                <a:latin typeface="Times New Roman"/>
              </a:rPr>
              <a:t> on</a:t>
            </a:r>
          </a:p>
          <a:p>
            <a:pPr algn="ctr"/>
            <a:r>
              <a:rPr sz="3200" b="1" dirty="0">
                <a:solidFill>
                  <a:srgbClr val="0F2B5C"/>
                </a:solidFill>
                <a:latin typeface="Times New Roman"/>
              </a:rPr>
              <a:t>Synthetic Media Detection</a:t>
            </a:r>
            <a:endParaRPr lang="en-IN" sz="3200" b="1" dirty="0">
              <a:solidFill>
                <a:srgbClr val="0F2B5C"/>
              </a:solidFill>
              <a:latin typeface="Times New Roman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31520" y="3977639"/>
            <a:ext cx="5212080" cy="233172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4114800"/>
            <a:ext cx="4754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0284C7"/>
                </a:solidFill>
                <a:latin typeface="Times New Roman"/>
              </a:rPr>
              <a:t>Submitted to:</a:t>
            </a:r>
          </a:p>
          <a:p>
            <a:pPr algn="l">
              <a:spcAft>
                <a:spcPts val="300"/>
              </a:spcAft>
            </a:pPr>
            <a:r>
              <a:rPr sz="2000" b="1">
                <a:solidFill>
                  <a:srgbClr val="0F2B5C"/>
                </a:solidFill>
                <a:latin typeface="Times New Roman"/>
              </a:rPr>
              <a:t>Dr. Mehul Mahrishi</a:t>
            </a:r>
          </a:p>
          <a:p>
            <a:pPr algn="l">
              <a:spcAft>
                <a:spcPts val="300"/>
              </a:spcAft>
            </a:pPr>
            <a:r>
              <a:rPr sz="1600" b="1">
                <a:solidFill>
                  <a:srgbClr val="1E293B"/>
                </a:solidFill>
                <a:latin typeface="Times New Roman"/>
              </a:rPr>
              <a:t>HOD &amp; Professor, CSE Department</a:t>
            </a:r>
          </a:p>
          <a:p>
            <a:pPr algn="l">
              <a:spcAft>
                <a:spcPts val="300"/>
              </a:spcAft>
            </a:pPr>
            <a:r>
              <a:rPr sz="1600" b="1">
                <a:solidFill>
                  <a:srgbClr val="64748B"/>
                </a:solidFill>
                <a:latin typeface="Times New Roman"/>
              </a:rPr>
              <a:t>SKIT, Jaipur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3977639"/>
            <a:ext cx="5212080" cy="233172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4114800"/>
            <a:ext cx="4754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0284C7"/>
                </a:solidFill>
                <a:latin typeface="Times New Roman"/>
              </a:rPr>
              <a:t>Presented By:</a:t>
            </a:r>
          </a:p>
          <a:p>
            <a:pPr algn="l">
              <a:spcAft>
                <a:spcPts val="300"/>
              </a:spcAft>
            </a:pPr>
            <a:r>
              <a:rPr sz="2000" b="1">
                <a:solidFill>
                  <a:srgbClr val="0F2B5C"/>
                </a:solidFill>
                <a:latin typeface="Times New Roman"/>
              </a:rPr>
              <a:t>Name: Kunal Arya</a:t>
            </a:r>
          </a:p>
          <a:p>
            <a:pPr algn="l">
              <a:spcAft>
                <a:spcPts val="300"/>
              </a:spcAft>
            </a:pPr>
            <a:r>
              <a:rPr sz="1600" b="1">
                <a:solidFill>
                  <a:srgbClr val="1E293B"/>
                </a:solidFill>
                <a:latin typeface="Times New Roman"/>
              </a:rPr>
              <a:t>Roll No.: 23ESKCS126</a:t>
            </a:r>
          </a:p>
          <a:p>
            <a:pPr algn="l">
              <a:spcAft>
                <a:spcPts val="300"/>
              </a:spcAft>
            </a:pPr>
            <a:r>
              <a:rPr sz="1600" b="1">
                <a:solidFill>
                  <a:srgbClr val="1E293B"/>
                </a:solidFill>
                <a:latin typeface="Times New Roman"/>
              </a:rPr>
              <a:t>Semester &amp; Year: 7th &amp; 4th</a:t>
            </a:r>
          </a:p>
          <a:p>
            <a:pPr algn="l">
              <a:spcAft>
                <a:spcPts val="300"/>
              </a:spcAft>
            </a:pPr>
            <a:r>
              <a:rPr sz="1600" b="1">
                <a:solidFill>
                  <a:srgbClr val="64748B"/>
                </a:solidFill>
                <a:latin typeface="Times New Roman"/>
              </a:rPr>
              <a:t>Academic Session: 2026-27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320040"/>
            <a:ext cx="73152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F2B5C"/>
                </a:solidFill>
                <a:latin typeface="Times New Roman"/>
              </a:rPr>
              <a:t>Index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115568"/>
            <a:ext cx="10362895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4937760" cy="413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650" b="1" dirty="0">
                <a:solidFill>
                  <a:srgbClr val="0F2B5C"/>
                </a:solidFill>
                <a:latin typeface="Times New Roman"/>
              </a:rPr>
              <a:t>1. Introduction</a:t>
            </a:r>
          </a:p>
          <a:p>
            <a:pPr>
              <a:spcAft>
                <a:spcPts val="1300"/>
              </a:spcAft>
            </a:pPr>
            <a:r>
              <a:rPr sz="1650" b="1" dirty="0">
                <a:solidFill>
                  <a:srgbClr val="1E293B"/>
                </a:solidFill>
                <a:latin typeface="Times New Roman"/>
              </a:rPr>
              <a:t>2. Problem Statement</a:t>
            </a:r>
          </a:p>
          <a:p>
            <a:pPr>
              <a:spcAft>
                <a:spcPts val="1300"/>
              </a:spcAft>
            </a:pPr>
            <a:r>
              <a:rPr sz="1650" b="1" dirty="0">
                <a:solidFill>
                  <a:srgbClr val="1E293B"/>
                </a:solidFill>
                <a:latin typeface="Times New Roman"/>
              </a:rPr>
              <a:t>3. Project Objectives</a:t>
            </a:r>
          </a:p>
          <a:p>
            <a:pPr>
              <a:spcAft>
                <a:spcPts val="1300"/>
              </a:spcAft>
            </a:pPr>
            <a:r>
              <a:rPr sz="1650" b="1" dirty="0">
                <a:solidFill>
                  <a:srgbClr val="1E293B"/>
                </a:solidFill>
                <a:latin typeface="Times New Roman"/>
              </a:rPr>
              <a:t>4. Technology Stack</a:t>
            </a:r>
          </a:p>
          <a:p>
            <a:pPr>
              <a:spcAft>
                <a:spcPts val="1300"/>
              </a:spcAft>
            </a:pPr>
            <a:r>
              <a:rPr sz="1650" b="1" dirty="0">
                <a:solidFill>
                  <a:srgbClr val="0F2B5C"/>
                </a:solidFill>
                <a:latin typeface="Times New Roman"/>
              </a:rPr>
              <a:t>5. System Architecture</a:t>
            </a:r>
          </a:p>
          <a:p>
            <a:pPr>
              <a:spcAft>
                <a:spcPts val="1300"/>
              </a:spcAft>
            </a:pPr>
            <a:r>
              <a:rPr sz="1650" b="1" dirty="0">
                <a:solidFill>
                  <a:srgbClr val="1E293B"/>
                </a:solidFill>
                <a:latin typeface="Times New Roman"/>
              </a:rPr>
              <a:t>6. System Requirements</a:t>
            </a:r>
          </a:p>
          <a:p>
            <a:pPr>
              <a:spcAft>
                <a:spcPts val="1300"/>
              </a:spcAft>
            </a:pPr>
            <a:r>
              <a:rPr sz="1650" b="1" dirty="0">
                <a:solidFill>
                  <a:srgbClr val="1E293B"/>
                </a:solidFill>
                <a:latin typeface="Times New Roman"/>
              </a:rPr>
              <a:t>7. Use Case Diagram</a:t>
            </a:r>
          </a:p>
          <a:p>
            <a:pPr>
              <a:spcAft>
                <a:spcPts val="1300"/>
              </a:spcAft>
            </a:pPr>
            <a:r>
              <a:rPr sz="1650" b="1" dirty="0">
                <a:solidFill>
                  <a:srgbClr val="1E293B"/>
                </a:solidFill>
                <a:latin typeface="Times New Roman"/>
              </a:rPr>
              <a:t>8. Sequence Diagram</a:t>
            </a:r>
          </a:p>
          <a:p>
            <a:pPr>
              <a:spcAft>
                <a:spcPts val="1300"/>
              </a:spcAft>
            </a:pPr>
            <a:r>
              <a:rPr sz="1650" b="1" dirty="0">
                <a:solidFill>
                  <a:srgbClr val="0F2B5C"/>
                </a:solidFill>
                <a:latin typeface="Times New Roman"/>
              </a:rPr>
              <a:t>9. Multi-Evidence Scoring</a:t>
            </a:r>
          </a:p>
          <a:p>
            <a:pPr>
              <a:spcAft>
                <a:spcPts val="1300"/>
              </a:spcAft>
            </a:pPr>
            <a:r>
              <a:rPr sz="1650" b="1" dirty="0">
                <a:solidFill>
                  <a:srgbClr val="1E293B"/>
                </a:solidFill>
                <a:latin typeface="Times New Roman"/>
              </a:rPr>
              <a:t>10. Decision Thresholds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25880"/>
            <a:ext cx="4937760" cy="413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650" b="1" dirty="0">
                <a:solidFill>
                  <a:srgbClr val="0F2B5C"/>
                </a:solidFill>
                <a:latin typeface="Times New Roman"/>
              </a:rPr>
              <a:t>11. Benchmark Datasets</a:t>
            </a:r>
          </a:p>
          <a:p>
            <a:pPr>
              <a:spcAft>
                <a:spcPts val="1300"/>
              </a:spcAft>
            </a:pPr>
            <a:r>
              <a:rPr sz="1650" b="1" dirty="0">
                <a:solidFill>
                  <a:srgbClr val="1E293B"/>
                </a:solidFill>
                <a:latin typeface="Times New Roman"/>
              </a:rPr>
              <a:t>12. Explainable AI and EXIF</a:t>
            </a:r>
          </a:p>
          <a:p>
            <a:pPr>
              <a:spcAft>
                <a:spcPts val="1300"/>
              </a:spcAft>
            </a:pPr>
            <a:r>
              <a:rPr sz="1650" b="1" dirty="0">
                <a:solidFill>
                  <a:srgbClr val="1E293B"/>
                </a:solidFill>
                <a:latin typeface="Times New Roman"/>
              </a:rPr>
              <a:t>13. Model Training History</a:t>
            </a:r>
          </a:p>
          <a:p>
            <a:pPr>
              <a:spcAft>
                <a:spcPts val="1300"/>
              </a:spcAft>
            </a:pPr>
            <a:r>
              <a:rPr sz="1650" b="1" dirty="0">
                <a:solidFill>
                  <a:srgbClr val="1E293B"/>
                </a:solidFill>
                <a:latin typeface="Times New Roman"/>
              </a:rPr>
              <a:t>14. Internal Benchmark Results</a:t>
            </a:r>
          </a:p>
          <a:p>
            <a:pPr>
              <a:spcAft>
                <a:spcPts val="1300"/>
              </a:spcAft>
            </a:pPr>
            <a:r>
              <a:rPr sz="1650" b="1" dirty="0">
                <a:solidFill>
                  <a:srgbClr val="1E293B"/>
                </a:solidFill>
                <a:latin typeface="Times New Roman"/>
              </a:rPr>
              <a:t>15. External Benchmark Results</a:t>
            </a:r>
          </a:p>
          <a:p>
            <a:pPr>
              <a:spcAft>
                <a:spcPts val="1300"/>
              </a:spcAft>
            </a:pPr>
            <a:r>
              <a:rPr sz="1650" b="1" dirty="0">
                <a:solidFill>
                  <a:srgbClr val="1E293B"/>
                </a:solidFill>
                <a:latin typeface="Times New Roman"/>
              </a:rPr>
              <a:t>16. Robustness Testing</a:t>
            </a:r>
          </a:p>
          <a:p>
            <a:pPr>
              <a:spcAft>
                <a:spcPts val="1300"/>
              </a:spcAft>
            </a:pPr>
            <a:r>
              <a:rPr sz="1650" b="1" dirty="0">
                <a:solidFill>
                  <a:srgbClr val="0F2B5C"/>
                </a:solidFill>
                <a:latin typeface="Times New Roman"/>
              </a:rPr>
              <a:t>17. Project Screenshots</a:t>
            </a:r>
          </a:p>
          <a:p>
            <a:pPr>
              <a:spcAft>
                <a:spcPts val="1300"/>
              </a:spcAft>
            </a:pPr>
            <a:r>
              <a:rPr sz="1650" b="1" dirty="0">
                <a:solidFill>
                  <a:srgbClr val="1E293B"/>
                </a:solidFill>
                <a:latin typeface="Times New Roman"/>
              </a:rPr>
              <a:t>18. Future Scope</a:t>
            </a:r>
          </a:p>
          <a:p>
            <a:pPr>
              <a:spcAft>
                <a:spcPts val="1300"/>
              </a:spcAft>
            </a:pPr>
            <a:r>
              <a:rPr sz="1650" b="1" dirty="0">
                <a:solidFill>
                  <a:srgbClr val="0F2B5C"/>
                </a:solidFill>
                <a:latin typeface="Times New Roman"/>
              </a:rPr>
              <a:t>19. Conclusion</a:t>
            </a:r>
          </a:p>
          <a:p>
            <a:pPr>
              <a:spcAft>
                <a:spcPts val="1300"/>
              </a:spcAft>
            </a:pPr>
            <a:r>
              <a:rPr sz="1650" b="1" dirty="0">
                <a:solidFill>
                  <a:srgbClr val="1E293B"/>
                </a:solidFill>
                <a:latin typeface="Times New Roman"/>
              </a:rPr>
              <a:t>20. Questions and Answers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0284C7"/>
                </a:solidFill>
                <a:latin typeface="Times New Roman"/>
              </a:rPr>
              <a:t>INDUSTRIAL TRAINING PRESENTATION</a:t>
            </a:r>
          </a:p>
          <a:p>
            <a:r>
              <a:rPr sz="2800" b="1">
                <a:solidFill>
                  <a:srgbClr val="0F2B5C"/>
                </a:solidFill>
                <a:latin typeface="Times New Roman"/>
              </a:rPr>
              <a:t>Introduction: Background &amp; Need for Detection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5212080" cy="512064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4754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900" b="1">
                <a:solidFill>
                  <a:srgbClr val="0284C7"/>
                </a:solidFill>
                <a:latin typeface="Times New Roman"/>
              </a:rPr>
              <a:t>WHAT IS SYNTHETIC MEDIA?</a:t>
            </a:r>
          </a:p>
          <a:p>
            <a:pPr algn="l">
              <a:spcAft>
                <a:spcPts val="1400"/>
              </a:spcAft>
            </a:pPr>
            <a:r>
              <a:rPr sz="1500" b="1">
                <a:solidFill>
                  <a:srgbClr val="0F2B5C"/>
                </a:solidFill>
                <a:latin typeface="Times New Roman"/>
              </a:rPr>
              <a:t>• Definition: </a:t>
            </a:r>
            <a:r>
              <a:rPr sz="1500" b="0">
                <a:solidFill>
                  <a:srgbClr val="1E293B"/>
                </a:solidFill>
                <a:latin typeface="Times New Roman"/>
              </a:rPr>
              <a:t>Digital images, photos, or media generated artificially using generative AI models.</a:t>
            </a:r>
          </a:p>
          <a:p>
            <a:pPr algn="l">
              <a:spcAft>
                <a:spcPts val="1400"/>
              </a:spcAft>
            </a:pPr>
            <a:r>
              <a:rPr sz="1500" b="1">
                <a:solidFill>
                  <a:srgbClr val="0F2B5C"/>
                </a:solidFill>
                <a:latin typeface="Times New Roman"/>
              </a:rPr>
              <a:t>• Popular AI Tools: </a:t>
            </a:r>
            <a:r>
              <a:rPr sz="1500" b="0">
                <a:solidFill>
                  <a:srgbClr val="1E293B"/>
                </a:solidFill>
                <a:latin typeface="Times New Roman"/>
              </a:rPr>
              <a:t>Midjourney, DALL-E, Stable Diffusion, and Flux.</a:t>
            </a:r>
          </a:p>
          <a:p>
            <a:pPr algn="l">
              <a:spcAft>
                <a:spcPts val="1400"/>
              </a:spcAft>
            </a:pPr>
            <a:r>
              <a:rPr sz="1500" b="1">
                <a:solidFill>
                  <a:srgbClr val="0F2B5C"/>
                </a:solidFill>
                <a:latin typeface="Times New Roman"/>
              </a:rPr>
              <a:t>• Easy Creation: </a:t>
            </a:r>
            <a:r>
              <a:rPr sz="1500" b="0">
                <a:solidFill>
                  <a:srgbClr val="1E293B"/>
                </a:solidFill>
                <a:latin typeface="Times New Roman"/>
              </a:rPr>
              <a:t>Anyone can generate realistic photos from a simple text prompt in seconds.</a:t>
            </a:r>
          </a:p>
          <a:p>
            <a:pPr algn="l">
              <a:spcAft>
                <a:spcPts val="1400"/>
              </a:spcAft>
            </a:pPr>
            <a:r>
              <a:rPr sz="1500" b="1">
                <a:solidFill>
                  <a:srgbClr val="0F2B5C"/>
                </a:solidFill>
                <a:latin typeface="Times New Roman"/>
              </a:rPr>
              <a:t>• Human Eyes Fail: </a:t>
            </a:r>
            <a:r>
              <a:rPr sz="1500" b="0">
                <a:solidFill>
                  <a:srgbClr val="1E293B"/>
                </a:solidFill>
                <a:latin typeface="Times New Roman"/>
              </a:rPr>
              <a:t>Modern AI images look completely real; human visual accuracy drops below 55% when identifying them.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280160"/>
            <a:ext cx="5212080" cy="512064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463040"/>
            <a:ext cx="4754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900" b="1">
                <a:solidFill>
                  <a:srgbClr val="0284C7"/>
                </a:solidFill>
                <a:latin typeface="Times New Roman"/>
              </a:rPr>
              <a:t>WHY IS DETECTION CRITICAL?</a:t>
            </a:r>
          </a:p>
          <a:p>
            <a:pPr algn="l">
              <a:spcAft>
                <a:spcPts val="1400"/>
              </a:spcAft>
            </a:pPr>
            <a:r>
              <a:rPr sz="1500" b="1">
                <a:solidFill>
                  <a:srgbClr val="0F2B5C"/>
                </a:solidFill>
                <a:latin typeface="Times New Roman"/>
              </a:rPr>
              <a:t>• Fake News: </a:t>
            </a:r>
            <a:r>
              <a:rPr sz="1500" b="0">
                <a:solidFill>
                  <a:srgbClr val="1E293B"/>
                </a:solidFill>
                <a:latin typeface="Times New Roman"/>
              </a:rPr>
              <a:t>Synthetic photos spread rapidly on social media, misleading the general public.</a:t>
            </a:r>
          </a:p>
          <a:p>
            <a:pPr algn="l">
              <a:spcAft>
                <a:spcPts val="1400"/>
              </a:spcAft>
            </a:pPr>
            <a:r>
              <a:rPr sz="1500" b="1">
                <a:solidFill>
                  <a:srgbClr val="0F2B5C"/>
                </a:solidFill>
                <a:latin typeface="Times New Roman"/>
              </a:rPr>
              <a:t>• Identity Fraud: </a:t>
            </a:r>
            <a:r>
              <a:rPr sz="1500" b="0">
                <a:solidFill>
                  <a:srgbClr val="1E293B"/>
                </a:solidFill>
                <a:latin typeface="Times New Roman"/>
              </a:rPr>
              <a:t>Used to forge fake ID cards, fake documents, and scam individuals online.</a:t>
            </a:r>
          </a:p>
          <a:p>
            <a:pPr algn="l">
              <a:spcAft>
                <a:spcPts val="1400"/>
              </a:spcAft>
            </a:pPr>
            <a:r>
              <a:rPr sz="1500" b="1">
                <a:solidFill>
                  <a:srgbClr val="0F2B5C"/>
                </a:solidFill>
                <a:latin typeface="Times New Roman"/>
              </a:rPr>
              <a:t>• Legal Evidence: </a:t>
            </a:r>
            <a:r>
              <a:rPr sz="1500" b="0">
                <a:solidFill>
                  <a:srgbClr val="1E293B"/>
                </a:solidFill>
                <a:latin typeface="Times New Roman"/>
              </a:rPr>
              <a:t>Tampered photos risk contaminating digital evidence presented in legal cases.</a:t>
            </a:r>
          </a:p>
          <a:p>
            <a:pPr algn="l">
              <a:spcAft>
                <a:spcPts val="1400"/>
              </a:spcAft>
            </a:pPr>
            <a:r>
              <a:rPr sz="1500" b="1">
                <a:solidFill>
                  <a:srgbClr val="0F2B5C"/>
                </a:solidFill>
                <a:latin typeface="Times New Roman"/>
              </a:rPr>
              <a:t>• Project Mission: </a:t>
            </a:r>
            <a:r>
              <a:rPr sz="1500" b="0">
                <a:solidFill>
                  <a:srgbClr val="1E293B"/>
                </a:solidFill>
                <a:latin typeface="Times New Roman"/>
              </a:rPr>
              <a:t>Build an automated deep learning tool to reliably check whether an image is Real or AI-generated.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0284C7"/>
                </a:solidFill>
                <a:latin typeface="Times New Roman"/>
              </a:rPr>
              <a:t>INDUSTRIAL TRAINING PRESENTATION</a:t>
            </a:r>
          </a:p>
          <a:p>
            <a:r>
              <a:rPr sz="2800" b="1">
                <a:solidFill>
                  <a:srgbClr val="0F2B5C"/>
                </a:solidFill>
                <a:latin typeface="Times New Roman"/>
              </a:rPr>
              <a:t>Problem Statement: Key Technical Challenges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3383280" cy="5120640"/>
          </a:xfrm>
          <a:prstGeom prst="rect">
            <a:avLst/>
          </a:prstGeom>
          <a:solidFill>
            <a:srgbClr val="FEF2F2"/>
          </a:solidFill>
          <a:ln w="1524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3017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50" b="1">
                <a:solidFill>
                  <a:srgbClr val="DC2626"/>
                </a:solidFill>
                <a:latin typeface="Times New Roman"/>
              </a:rPr>
              <a:t>1. High Realism &amp; Subtle Clues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1E293B"/>
                </a:solidFill>
                <a:latin typeface="Times New Roman"/>
              </a:rPr>
              <a:t>• Modern AI models produce realistic faces, textures, and lighting.
• No visible distortion or obvious flaws.
• Human observers cannot reliably tell real photos from fakes.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280160"/>
            <a:ext cx="3383280" cy="5120640"/>
          </a:xfrm>
          <a:prstGeom prst="rect">
            <a:avLst/>
          </a:prstGeom>
          <a:solidFill>
            <a:srgbClr val="FFFBEB"/>
          </a:solidFill>
          <a:ln w="1524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0" y="1463040"/>
            <a:ext cx="3017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50" b="1">
                <a:solidFill>
                  <a:srgbClr val="D97706"/>
                </a:solidFill>
                <a:latin typeface="Times New Roman"/>
              </a:rPr>
              <a:t>2. Generalization Problem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1E293B"/>
                </a:solidFill>
                <a:latin typeface="Times New Roman"/>
              </a:rPr>
              <a:t>• Detectors trained on older GAN models fail on new models like Midjourney or DALL-E.
• Hard to detect synthetic images from completely new, unseen generators.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1280160"/>
            <a:ext cx="3383280" cy="5120640"/>
          </a:xfrm>
          <a:prstGeom prst="rect">
            <a:avLst/>
          </a:prstGeom>
          <a:solidFill>
            <a:srgbClr val="F0F9FF"/>
          </a:solidFill>
          <a:ln w="1524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0" y="1463040"/>
            <a:ext cx="3017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50" b="1">
                <a:solidFill>
                  <a:srgbClr val="0284C7"/>
                </a:solidFill>
                <a:latin typeface="Times New Roman"/>
              </a:rPr>
              <a:t>3. Compression &amp; Black-Box AI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1E293B"/>
                </a:solidFill>
                <a:latin typeface="Times New Roman"/>
              </a:rPr>
              <a:t>• WhatsApp and Instagram compress images, erasing subtle forensic cues.
• Most AI models output a score without explaining WHY an image is fake.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0284C7"/>
                </a:solidFill>
                <a:latin typeface="Times New Roman"/>
              </a:rPr>
              <a:t>INDUSTRIAL TRAINING PRESENTATION</a:t>
            </a:r>
          </a:p>
          <a:p>
            <a:r>
              <a:rPr sz="2800" b="1">
                <a:solidFill>
                  <a:srgbClr val="0F2B5C"/>
                </a:solidFill>
                <a:latin typeface="Times New Roman"/>
              </a:rPr>
              <a:t>Project Objectives &amp; Scope of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512064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463040"/>
            <a:ext cx="1018001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300"/>
              </a:spcAft>
            </a:pPr>
            <a:r>
              <a:rPr sz="1900" b="1">
                <a:solidFill>
                  <a:srgbClr val="0284C7"/>
                </a:solidFill>
                <a:latin typeface="Times New Roman"/>
              </a:rPr>
              <a:t>CORE SYSTEM OBJECTIVES</a:t>
            </a:r>
          </a:p>
          <a:p>
            <a:pPr algn="l">
              <a:spcAft>
                <a:spcPts val="1300"/>
              </a:spcAft>
            </a:pPr>
            <a:r>
              <a:rPr sz="1500" b="1">
                <a:solidFill>
                  <a:srgbClr val="0F2B5C"/>
                </a:solidFill>
                <a:latin typeface="Times New Roman"/>
              </a:rPr>
              <a:t>1. Binary Classifier: </a:t>
            </a:r>
            <a:r>
              <a:rPr sz="1500" b="0">
                <a:solidFill>
                  <a:srgbClr val="1E293B"/>
                </a:solidFill>
                <a:latin typeface="Times New Roman"/>
              </a:rPr>
              <a:t>Accurately classify input images as Authentic (Real) or Synthetic (AI-Generated).</a:t>
            </a:r>
          </a:p>
          <a:p>
            <a:pPr algn="l">
              <a:spcAft>
                <a:spcPts val="1300"/>
              </a:spcAft>
            </a:pPr>
            <a:r>
              <a:rPr sz="1500" b="1">
                <a:solidFill>
                  <a:srgbClr val="0F2B5C"/>
                </a:solidFill>
                <a:latin typeface="Times New Roman"/>
              </a:rPr>
              <a:t>2. Standard Benchmark Training: </a:t>
            </a:r>
            <a:r>
              <a:rPr sz="1500" b="0">
                <a:solidFill>
                  <a:srgbClr val="1E293B"/>
                </a:solidFill>
                <a:latin typeface="Times New Roman"/>
              </a:rPr>
              <a:t>Train EfficientNet-B4 on 27,000+ benchmark images from the GenImage dataset.</a:t>
            </a:r>
          </a:p>
          <a:p>
            <a:pPr algn="l">
              <a:spcAft>
                <a:spcPts val="1300"/>
              </a:spcAft>
            </a:pPr>
            <a:r>
              <a:rPr sz="1500" b="1">
                <a:solidFill>
                  <a:srgbClr val="0F2B5C"/>
                </a:solidFill>
                <a:latin typeface="Times New Roman"/>
              </a:rPr>
              <a:t>3. Multi-Evidence Analysis: </a:t>
            </a:r>
            <a:r>
              <a:rPr sz="1500" b="0">
                <a:solidFill>
                  <a:srgbClr val="1E293B"/>
                </a:solidFill>
                <a:latin typeface="Times New Roman"/>
              </a:rPr>
              <a:t>Combine deep learning (55%), frequency analysis (20%), and compression checks (15%).</a:t>
            </a:r>
          </a:p>
          <a:p>
            <a:pPr algn="l">
              <a:spcAft>
                <a:spcPts val="1300"/>
              </a:spcAft>
            </a:pPr>
            <a:r>
              <a:rPr sz="1500" b="1">
                <a:solidFill>
                  <a:srgbClr val="0F2B5C"/>
                </a:solidFill>
                <a:latin typeface="Times New Roman"/>
              </a:rPr>
              <a:t>4. Visual Heatmaps (Grad-CAM): </a:t>
            </a:r>
            <a:r>
              <a:rPr sz="1500" b="0">
                <a:solidFill>
                  <a:srgbClr val="1E293B"/>
                </a:solidFill>
                <a:latin typeface="Times New Roman"/>
              </a:rPr>
              <a:t>Highlight the exact image regions (eyes, skin, borders) that triggered the fake prediction.</a:t>
            </a:r>
          </a:p>
          <a:p>
            <a:pPr algn="l">
              <a:spcAft>
                <a:spcPts val="1300"/>
              </a:spcAft>
            </a:pPr>
            <a:r>
              <a:rPr sz="1500" b="1">
                <a:solidFill>
                  <a:srgbClr val="0F2B5C"/>
                </a:solidFill>
                <a:latin typeface="Times New Roman"/>
              </a:rPr>
              <a:t>5. Camera EXIF Audit: </a:t>
            </a:r>
            <a:r>
              <a:rPr sz="1500" b="0">
                <a:solidFill>
                  <a:srgbClr val="1E293B"/>
                </a:solidFill>
                <a:latin typeface="Times New Roman"/>
              </a:rPr>
              <a:t>Check 6 physical camera hardware tags to verify optical authenticity.</a:t>
            </a:r>
          </a:p>
          <a:p>
            <a:pPr algn="l">
              <a:spcAft>
                <a:spcPts val="1300"/>
              </a:spcAft>
            </a:pPr>
            <a:r>
              <a:rPr sz="1500" b="1">
                <a:solidFill>
                  <a:srgbClr val="0F2B5C"/>
                </a:solidFill>
                <a:latin typeface="Times New Roman"/>
              </a:rPr>
              <a:t>6. Working Web Application: </a:t>
            </a:r>
            <a:r>
              <a:rPr sz="1500" b="0">
                <a:solidFill>
                  <a:srgbClr val="1E293B"/>
                </a:solidFill>
                <a:latin typeface="Times New Roman"/>
              </a:rPr>
              <a:t>Build a fast Streamlit dashboard supporting single scans and batch testing (up to 20 images).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0284C7"/>
                </a:solidFill>
                <a:latin typeface="Times New Roman"/>
              </a:rPr>
              <a:t>INDUSTRIAL TRAINING PRESENTATION</a:t>
            </a:r>
          </a:p>
          <a:p>
            <a:r>
              <a:rPr sz="2800" b="1">
                <a:solidFill>
                  <a:srgbClr val="0F2B5C"/>
                </a:solidFill>
                <a:latin typeface="Times New Roman"/>
              </a:rPr>
              <a:t>Technology Stack Used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5212080" cy="2423160"/>
          </a:xfrm>
          <a:prstGeom prst="rect">
            <a:avLst/>
          </a:prstGeom>
          <a:solidFill>
            <a:srgbClr val="F0F9FF"/>
          </a:solidFill>
          <a:ln w="1524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4754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0284C7"/>
                </a:solidFill>
                <a:latin typeface="Times New Roman"/>
              </a:rPr>
              <a:t>DEEP LEARNING MODEL</a:t>
            </a:r>
          </a:p>
          <a:p>
            <a:pPr algn="l">
              <a:spcAft>
                <a:spcPts val="500"/>
              </a:spcAft>
            </a:pPr>
            <a:r>
              <a:rPr sz="1450" b="0">
                <a:solidFill>
                  <a:srgbClr val="1E293B"/>
                </a:solidFill>
                <a:latin typeface="Times New Roman"/>
              </a:rPr>
              <a:t>• Python 3.11 &amp; PyTorch 2.6 (CUDA GPU)
• EfficientNet-B4 Backbone (~19M parameters)
• timm library for pre-trained weights
• Mixed Precision (AMP) for fast inference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280160"/>
            <a:ext cx="5212080" cy="2423160"/>
          </a:xfrm>
          <a:prstGeom prst="rect">
            <a:avLst/>
          </a:prstGeom>
          <a:solidFill>
            <a:srgbClr val="F0FDF4"/>
          </a:solidFill>
          <a:ln w="1524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463040"/>
            <a:ext cx="4754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16A34A"/>
                </a:solidFill>
                <a:latin typeface="Times New Roman"/>
              </a:rPr>
              <a:t>IMAGE FORENSICS</a:t>
            </a:r>
          </a:p>
          <a:p>
            <a:pPr algn="l">
              <a:spcAft>
                <a:spcPts val="500"/>
              </a:spcAft>
            </a:pPr>
            <a:r>
              <a:rPr sz="1450" b="0">
                <a:solidFill>
                  <a:srgbClr val="1E293B"/>
                </a:solidFill>
                <a:latin typeface="Times New Roman"/>
              </a:rPr>
              <a:t>• OpenCV &amp; PIL for image preprocessing
• 2D Fast Fourier Transform (FFT) for grid artifacts
• Error Level Analysis (ELA) for compression checks
• Camera EXIF parser for hardware metadata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886200"/>
            <a:ext cx="5212080" cy="2423160"/>
          </a:xfrm>
          <a:prstGeom prst="rect">
            <a:avLst/>
          </a:prstGeom>
          <a:solidFill>
            <a:srgbClr val="FFFBEB"/>
          </a:solidFill>
          <a:ln w="1524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4069080"/>
            <a:ext cx="4754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D97706"/>
                </a:solidFill>
                <a:latin typeface="Times New Roman"/>
              </a:rPr>
              <a:t>MODEL EXPLAINABILITY</a:t>
            </a:r>
          </a:p>
          <a:p>
            <a:pPr algn="l">
              <a:spcAft>
                <a:spcPts val="500"/>
              </a:spcAft>
            </a:pPr>
            <a:r>
              <a:rPr sz="1450" b="0">
                <a:solidFill>
                  <a:srgbClr val="1E293B"/>
                </a:solidFill>
                <a:latin typeface="Times New Roman"/>
              </a:rPr>
              <a:t>• PyTorch-GradCAM for visual attention heatmaps
• Monte Carlo Dropout for confidence intervals
• Matplotlib &amp; Seaborn for benchmark evaluation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3886200"/>
            <a:ext cx="5212080" cy="242316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4069080"/>
            <a:ext cx="4754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0F2B5C"/>
                </a:solidFill>
                <a:latin typeface="Times New Roman"/>
              </a:rPr>
              <a:t>WEB INTERFACE &amp; HARDWARE</a:t>
            </a:r>
          </a:p>
          <a:p>
            <a:pPr algn="l">
              <a:spcAft>
                <a:spcPts val="500"/>
              </a:spcAft>
            </a:pPr>
            <a:r>
              <a:rPr sz="1450" b="0">
                <a:solidFill>
                  <a:srgbClr val="1E293B"/>
                </a:solidFill>
                <a:latin typeface="Times New Roman"/>
              </a:rPr>
              <a:t>• Streamlit web framework
• FPDF2 library for generating PDF audit reports
• NVIDIA GeForce RTX 4050 GPU (6GB VRAM)
• High throughput: &lt;150ms per image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0284C7"/>
                </a:solidFill>
                <a:latin typeface="Times New Roman"/>
              </a:rPr>
              <a:t>INDUSTRIAL TRAINING PRESENTATION</a:t>
            </a:r>
          </a:p>
          <a:p>
            <a:r>
              <a:rPr sz="2800" b="1">
                <a:solidFill>
                  <a:srgbClr val="0F2B5C"/>
                </a:solidFill>
                <a:latin typeface="Times New Roman"/>
              </a:rPr>
              <a:t>System Architecture &amp; End-to-End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600200"/>
          </a:xfrm>
          <a:prstGeom prst="rect">
            <a:avLst/>
          </a:prstGeom>
          <a:solidFill>
            <a:srgbClr val="F0F9FF"/>
          </a:solidFill>
          <a:ln w="1524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389888"/>
            <a:ext cx="102714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0284C7"/>
                </a:solidFill>
                <a:latin typeface="Times New Roman"/>
              </a:rPr>
              <a:t>STEP 1: IMAGE INGESTION &amp; PREPROCESSING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E293B"/>
                </a:solidFill>
                <a:latin typeface="Times New Roman"/>
              </a:rPr>
              <a:t>• User uploads image (JPG, PNG, or WEBP).
• System validates file format and resizes to 380x380 pixels.
• Normalizes pixel tensor and loads it into GPU memory.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017520"/>
            <a:ext cx="10728655" cy="1600200"/>
          </a:xfrm>
          <a:prstGeom prst="rect">
            <a:avLst/>
          </a:prstGeom>
          <a:solidFill>
            <a:srgbClr val="F0FDF4"/>
          </a:solidFill>
          <a:ln w="1524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3127248"/>
            <a:ext cx="102714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A34A"/>
                </a:solidFill>
                <a:latin typeface="Times New Roman"/>
              </a:rPr>
              <a:t>STEP 2: MULTI-EVIDENCE FEATURE EXTRACTION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E293B"/>
                </a:solidFill>
                <a:latin typeface="Times New Roman"/>
              </a:rPr>
              <a:t>• Spatial CNN: EfficientNet-B4 extracts deep visual features.
• Frequency FFT: 2D Fourier transform detects hidden grid patterns from AI upsampling.
• Compression ELA: Measures compression differences across surfaces.
• Sensor Noise: Checks natural camera sensor noise (PRNU) against AI smoothness.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754879"/>
            <a:ext cx="10728655" cy="1600200"/>
          </a:xfrm>
          <a:prstGeom prst="rect">
            <a:avLst/>
          </a:prstGeom>
          <a:solidFill>
            <a:srgbClr val="FFFBEB"/>
          </a:solidFill>
          <a:ln w="1524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4864607"/>
            <a:ext cx="102714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D97706"/>
                </a:solidFill>
                <a:latin typeface="Times New Roman"/>
              </a:rPr>
              <a:t>STEP 3: DECISION, VISUALIZATION &amp; REPORTING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E293B"/>
                </a:solidFill>
                <a:latin typeface="Times New Roman"/>
              </a:rPr>
              <a:t>• Weighted score formula computes final risk score (0 to 100%).
• Final Verdict: Authentic (&lt;40%), Suspect (40-59%), or Synthetic (&gt;=60%).
• Shows Grad-CAM heatmap and generates a downloadable PDF audit report.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0284C7"/>
                </a:solidFill>
                <a:latin typeface="Times New Roman"/>
              </a:rPr>
              <a:t>INDUSTRIAL TRAINING PRESENTATION</a:t>
            </a:r>
          </a:p>
          <a:p>
            <a:r>
              <a:rPr sz="2800" b="1">
                <a:solidFill>
                  <a:srgbClr val="0F2B5C"/>
                </a:solidFill>
                <a:latin typeface="Times New Roman"/>
              </a:rPr>
              <a:t>UML Use Case Workflow: Operational User Roles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slide_08_use_cas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698480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0284C7"/>
                </a:solidFill>
                <a:latin typeface="Times New Roman"/>
              </a:rPr>
              <a:t>INDUSTRIAL TRAINING PRESENTATION</a:t>
            </a:r>
          </a:p>
          <a:p>
            <a:r>
              <a:rPr sz="2800" b="1">
                <a:solidFill>
                  <a:srgbClr val="0F2B5C"/>
                </a:solidFill>
                <a:latin typeface="Times New Roman"/>
              </a:rPr>
              <a:t>Sequence Diagram: Step-by-Step Detection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slide_09_sequenc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698480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0284C7"/>
                </a:solidFill>
                <a:latin typeface="Times New Roman"/>
              </a:rPr>
              <a:t>INDUSTRIAL TRAINING PRESENTATION</a:t>
            </a:r>
          </a:p>
          <a:p>
            <a:r>
              <a:rPr sz="2800" b="1">
                <a:solidFill>
                  <a:srgbClr val="0F2B5C"/>
                </a:solidFill>
                <a:latin typeface="Times New Roman"/>
              </a:rPr>
              <a:t>Multi-Evidence Forensic Scoring &amp; Formulation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5212080" cy="512064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4754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300"/>
              </a:spcAft>
            </a:pPr>
            <a:r>
              <a:rPr sz="1900" b="1">
                <a:solidFill>
                  <a:srgbClr val="0284C7"/>
                </a:solidFill>
                <a:latin typeface="Times New Roman"/>
              </a:rPr>
              <a:t>FOUR EVIDENCE CHANNELS</a:t>
            </a:r>
          </a:p>
          <a:p>
            <a:pPr algn="l">
              <a:spcAft>
                <a:spcPts val="1300"/>
              </a:spcAft>
            </a:pPr>
            <a:r>
              <a:rPr sz="1500" b="1">
                <a:solidFill>
                  <a:srgbClr val="0F2B5C"/>
                </a:solidFill>
                <a:latin typeface="Times New Roman"/>
              </a:rPr>
              <a:t>• Deep Learning (55%): </a:t>
            </a:r>
            <a:r>
              <a:rPr sz="1500" b="0">
                <a:solidFill>
                  <a:srgbClr val="1E293B"/>
                </a:solidFill>
                <a:latin typeface="Times New Roman"/>
              </a:rPr>
              <a:t>EfficientNet-B4 checks overall image and texture patterns.</a:t>
            </a:r>
          </a:p>
          <a:p>
            <a:pPr algn="l">
              <a:spcAft>
                <a:spcPts val="1300"/>
              </a:spcAft>
            </a:pPr>
            <a:r>
              <a:rPr sz="1500" b="1">
                <a:solidFill>
                  <a:srgbClr val="0F2B5C"/>
                </a:solidFill>
                <a:latin typeface="Times New Roman"/>
              </a:rPr>
              <a:t>• 2D FFT Frequency (20%): </a:t>
            </a:r>
            <a:r>
              <a:rPr sz="1500" b="0">
                <a:solidFill>
                  <a:srgbClr val="1E293B"/>
                </a:solidFill>
                <a:latin typeface="Times New Roman"/>
              </a:rPr>
              <a:t>Detects repeating grid lines left by AI generators.</a:t>
            </a:r>
          </a:p>
          <a:p>
            <a:pPr algn="l">
              <a:spcAft>
                <a:spcPts val="1300"/>
              </a:spcAft>
            </a:pPr>
            <a:r>
              <a:rPr sz="1500" b="1">
                <a:solidFill>
                  <a:srgbClr val="0F2B5C"/>
                </a:solidFill>
                <a:latin typeface="Times New Roman"/>
              </a:rPr>
              <a:t>• Error Level Analysis (15%): </a:t>
            </a:r>
            <a:r>
              <a:rPr sz="1500" b="0">
                <a:solidFill>
                  <a:srgbClr val="1E293B"/>
                </a:solidFill>
                <a:latin typeface="Times New Roman"/>
              </a:rPr>
              <a:t>Finds differences in JPEG compression across the image.</a:t>
            </a:r>
          </a:p>
          <a:p>
            <a:pPr algn="l">
              <a:spcAft>
                <a:spcPts val="1300"/>
              </a:spcAft>
            </a:pPr>
            <a:r>
              <a:rPr sz="1500" b="1">
                <a:solidFill>
                  <a:srgbClr val="0F2B5C"/>
                </a:solidFill>
                <a:latin typeface="Times New Roman"/>
              </a:rPr>
              <a:t>• Sensor Noise Check (10%): </a:t>
            </a:r>
            <a:r>
              <a:rPr sz="1500" b="0">
                <a:solidFill>
                  <a:srgbClr val="1E293B"/>
                </a:solidFill>
                <a:latin typeface="Times New Roman"/>
              </a:rPr>
              <a:t>Checks for real camera sensor noise vs artificial smoothness.</a:t>
            </a:r>
          </a:p>
          <a:p>
            <a:pPr algn="l">
              <a:spcAft>
                <a:spcPts val="1300"/>
              </a:spcAft>
            </a:pPr>
            <a:r>
              <a:rPr sz="1500" b="1">
                <a:solidFill>
                  <a:srgbClr val="0F2B5C"/>
                </a:solidFill>
                <a:latin typeface="Times New Roman"/>
              </a:rPr>
              <a:t>• Key Advantage: </a:t>
            </a:r>
            <a:r>
              <a:rPr sz="1500" b="0">
                <a:solidFill>
                  <a:srgbClr val="1E293B"/>
                </a:solidFill>
                <a:latin typeface="Times New Roman"/>
              </a:rPr>
              <a:t>If compression destroys frequency cues, the deep learning model still catches the fake.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280160"/>
            <a:ext cx="5212080" cy="512064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463040"/>
            <a:ext cx="4754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</a:pPr>
            <a:r>
              <a:rPr sz="1900" b="1">
                <a:solidFill>
                  <a:srgbClr val="0284C7"/>
                </a:solidFill>
                <a:latin typeface="Times New Roman"/>
              </a:rPr>
              <a:t>SCORING FORMULA &amp; DECISION RULES</a:t>
            </a:r>
          </a:p>
          <a:p>
            <a:pPr algn="l">
              <a:spcAft>
                <a:spcPts val="1100"/>
              </a:spcAft>
            </a:pPr>
            <a:r>
              <a:rPr sz="1500" b="1">
                <a:solidFill>
                  <a:srgbClr val="0F2B5C"/>
                </a:solidFill>
                <a:latin typeface="Times New Roman"/>
              </a:rPr>
              <a:t>Scoring Equation:</a:t>
            </a:r>
            <a:r>
              <a:rPr sz="1500" b="0">
                <a:solidFill>
                  <a:srgbClr val="1E293B"/>
                </a:solidFill>
                <a:latin typeface="Times New Roman"/>
              </a:rPr>
              <a:t>
Final Score = 0.55*DL + 0.20*FFT + 0.15*ELA + 0.10*Noise
</a:t>
            </a:r>
          </a:p>
          <a:p>
            <a:pPr algn="l">
              <a:spcAft>
                <a:spcPts val="1100"/>
              </a:spcAft>
            </a:pPr>
            <a:r>
              <a:rPr sz="1900" b="1">
                <a:solidFill>
                  <a:srgbClr val="0F2B5C"/>
                </a:solidFill>
                <a:latin typeface="Times New Roman"/>
              </a:rPr>
              <a:t>Decision Rules:</a:t>
            </a:r>
          </a:p>
          <a:p>
            <a:pPr algn="l">
              <a:spcAft>
                <a:spcPts val="1100"/>
              </a:spcAft>
            </a:pPr>
            <a:r>
              <a:rPr sz="1500" b="1">
                <a:solidFill>
                  <a:srgbClr val="DC2626"/>
                </a:solidFill>
                <a:latin typeface="Times New Roman"/>
              </a:rPr>
              <a:t>• Score &gt;= 60%: </a:t>
            </a:r>
            <a:r>
              <a:rPr sz="1500" b="0">
                <a:solidFill>
                  <a:srgbClr val="1E293B"/>
                </a:solidFill>
                <a:latin typeface="Times New Roman"/>
              </a:rPr>
              <a:t>SYNTHETIC (AI-Generated Image)</a:t>
            </a:r>
          </a:p>
          <a:p>
            <a:pPr algn="l">
              <a:spcAft>
                <a:spcPts val="1100"/>
              </a:spcAft>
            </a:pPr>
            <a:r>
              <a:rPr sz="1500" b="1">
                <a:solidFill>
                  <a:srgbClr val="D97706"/>
                </a:solidFill>
                <a:latin typeface="Times New Roman"/>
              </a:rPr>
              <a:t>• Score 40% - 59%: </a:t>
            </a:r>
            <a:r>
              <a:rPr sz="1500" b="0">
                <a:solidFill>
                  <a:srgbClr val="1E293B"/>
                </a:solidFill>
                <a:latin typeface="Times New Roman"/>
              </a:rPr>
              <a:t>SUSPECT (Needs secondary manual review)</a:t>
            </a:r>
          </a:p>
          <a:p>
            <a:pPr algn="l">
              <a:spcAft>
                <a:spcPts val="1100"/>
              </a:spcAft>
            </a:pPr>
            <a:r>
              <a:rPr sz="1500" b="1">
                <a:solidFill>
                  <a:srgbClr val="16A34A"/>
                </a:solidFill>
                <a:latin typeface="Times New Roman"/>
              </a:rPr>
              <a:t>• Score &lt; 40%: </a:t>
            </a:r>
            <a:r>
              <a:rPr sz="1500" b="0">
                <a:solidFill>
                  <a:srgbClr val="1E293B"/>
                </a:solidFill>
                <a:latin typeface="Times New Roman"/>
              </a:rPr>
              <a:t>AUTHENTIC (Genuine Camera Image)</a:t>
            </a:r>
          </a:p>
          <a:p>
            <a:pPr algn="l">
              <a:spcAft>
                <a:spcPts val="1100"/>
              </a:spcAft>
            </a:pPr>
            <a:r>
              <a:rPr sz="1500" b="1">
                <a:solidFill>
                  <a:srgbClr val="0F2B5C"/>
                </a:solidFill>
                <a:latin typeface="Times New Roman"/>
              </a:rPr>
              <a:t>• Camera EXIF Check: </a:t>
            </a:r>
            <a:r>
              <a:rPr sz="1500" b="0">
                <a:solidFill>
                  <a:srgbClr val="1E293B"/>
                </a:solidFill>
                <a:latin typeface="Times New Roman"/>
              </a:rPr>
              <a:t>Audits 6 camera hardware tags to verify physical origin.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0284C7"/>
                </a:solidFill>
                <a:latin typeface="Times New Roman"/>
              </a:rPr>
              <a:t>INDUSTRIAL TRAINING PRESENTATION</a:t>
            </a:r>
          </a:p>
          <a:p>
            <a:r>
              <a:rPr sz="2800" b="1">
                <a:solidFill>
                  <a:srgbClr val="0F2B5C"/>
                </a:solidFill>
                <a:latin typeface="Times New Roman"/>
              </a:rPr>
              <a:t>Forensic Decision &amp; Classification Threshold Engine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slide_11_decision_threshold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698480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0284C7"/>
                </a:solidFill>
                <a:latin typeface="Times New Roman"/>
              </a:rPr>
              <a:t>INDUSTRIAL TRAINING PRESENTATION</a:t>
            </a:r>
          </a:p>
          <a:p>
            <a:r>
              <a:rPr sz="2800" b="1">
                <a:solidFill>
                  <a:srgbClr val="0F2B5C"/>
                </a:solidFill>
                <a:latin typeface="Times New Roman"/>
              </a:rPr>
              <a:t>Published Benchmark Datasets Used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5212080" cy="512064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4754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300"/>
              </a:spcAft>
            </a:pPr>
            <a:r>
              <a:rPr sz="1900" b="1">
                <a:solidFill>
                  <a:srgbClr val="0284C7"/>
                </a:solidFill>
                <a:latin typeface="Times New Roman"/>
              </a:rPr>
              <a:t>GENIMAGE DATASET (TRAINING)</a:t>
            </a:r>
          </a:p>
          <a:p>
            <a:pPr algn="l">
              <a:spcAft>
                <a:spcPts val="1300"/>
              </a:spcAft>
            </a:pPr>
            <a:r>
              <a:rPr sz="1500" b="1">
                <a:solidFill>
                  <a:srgbClr val="0F2B5C"/>
                </a:solidFill>
                <a:latin typeface="Times New Roman"/>
              </a:rPr>
              <a:t>• Benchmark Size: </a:t>
            </a:r>
            <a:r>
              <a:rPr sz="1500" b="0">
                <a:solidFill>
                  <a:srgbClr val="1E293B"/>
                </a:solidFill>
                <a:latin typeface="Times New Roman"/>
              </a:rPr>
              <a:t>27,750 balanced image pairs across diverse ImageNet categories.</a:t>
            </a:r>
          </a:p>
          <a:p>
            <a:pPr algn="l">
              <a:spcAft>
                <a:spcPts val="1300"/>
              </a:spcAft>
            </a:pPr>
            <a:r>
              <a:rPr sz="1500" b="1">
                <a:solidFill>
                  <a:srgbClr val="0F2B5C"/>
                </a:solidFill>
                <a:latin typeface="Times New Roman"/>
              </a:rPr>
              <a:t>• 8 Diverse Generators: </a:t>
            </a:r>
            <a:r>
              <a:rPr sz="1500" b="0">
                <a:solidFill>
                  <a:srgbClr val="1E293B"/>
                </a:solidFill>
                <a:latin typeface="Times New Roman"/>
              </a:rPr>
              <a:t>Midjourney, Stable Diffusion, BigGAN, GLIDE, VQDM, ADM, Wukong, Latent Diffusion.</a:t>
            </a:r>
          </a:p>
          <a:p>
            <a:pPr algn="l">
              <a:spcAft>
                <a:spcPts val="1300"/>
              </a:spcAft>
            </a:pPr>
            <a:r>
              <a:rPr sz="1500" b="1">
                <a:solidFill>
                  <a:srgbClr val="0F2B5C"/>
                </a:solidFill>
                <a:latin typeface="Times New Roman"/>
              </a:rPr>
              <a:t>• Training Set: </a:t>
            </a:r>
            <a:r>
              <a:rPr sz="1500" b="0">
                <a:solidFill>
                  <a:srgbClr val="1E293B"/>
                </a:solidFill>
                <a:latin typeface="Times New Roman"/>
              </a:rPr>
              <a:t>18,750 images used to train the EfficientNet-B4 model.</a:t>
            </a:r>
          </a:p>
          <a:p>
            <a:pPr algn="l">
              <a:spcAft>
                <a:spcPts val="1300"/>
              </a:spcAft>
            </a:pPr>
            <a:r>
              <a:rPr sz="1500" b="1">
                <a:solidFill>
                  <a:srgbClr val="0F2B5C"/>
                </a:solidFill>
                <a:latin typeface="Times New Roman"/>
              </a:rPr>
              <a:t>• Validation Set: </a:t>
            </a:r>
            <a:r>
              <a:rPr sz="1500" b="0">
                <a:solidFill>
                  <a:srgbClr val="1E293B"/>
                </a:solidFill>
                <a:latin typeface="Times New Roman"/>
              </a:rPr>
              <a:t>3,750 images used for early stopping.</a:t>
            </a:r>
          </a:p>
          <a:p>
            <a:pPr algn="l">
              <a:spcAft>
                <a:spcPts val="1300"/>
              </a:spcAft>
            </a:pPr>
            <a:r>
              <a:rPr sz="1500" b="1">
                <a:solidFill>
                  <a:srgbClr val="0F2B5C"/>
                </a:solidFill>
                <a:latin typeface="Times New Roman"/>
              </a:rPr>
              <a:t>• Internal Test Set: </a:t>
            </a:r>
            <a:r>
              <a:rPr sz="1500" b="0">
                <a:solidFill>
                  <a:srgbClr val="1E293B"/>
                </a:solidFill>
                <a:latin typeface="Times New Roman"/>
              </a:rPr>
              <a:t>3,250 held-out images used for evaluation.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280160"/>
            <a:ext cx="5212080" cy="512064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463040"/>
            <a:ext cx="4754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300"/>
              </a:spcAft>
            </a:pPr>
            <a:r>
              <a:rPr sz="1900" b="1">
                <a:solidFill>
                  <a:srgbClr val="0284C7"/>
                </a:solidFill>
                <a:latin typeface="Times New Roman"/>
              </a:rPr>
              <a:t>EXTERNAL TEST SET (SYNTHBUSTER + RAISE)</a:t>
            </a:r>
          </a:p>
          <a:p>
            <a:pPr algn="l">
              <a:spcAft>
                <a:spcPts val="1300"/>
              </a:spcAft>
            </a:pPr>
            <a:r>
              <a:rPr sz="1500" b="1">
                <a:solidFill>
                  <a:srgbClr val="0F2B5C"/>
                </a:solidFill>
                <a:latin typeface="Times New Roman"/>
              </a:rPr>
              <a:t>• Benchmark Size: </a:t>
            </a:r>
            <a:r>
              <a:rPr sz="1500" b="0">
                <a:solidFill>
                  <a:srgbClr val="1E293B"/>
                </a:solidFill>
                <a:latin typeface="Times New Roman"/>
              </a:rPr>
              <a:t>2,000 completely unseen images never seen during training.</a:t>
            </a:r>
          </a:p>
          <a:p>
            <a:pPr algn="l">
              <a:spcAft>
                <a:spcPts val="1300"/>
              </a:spcAft>
            </a:pPr>
            <a:r>
              <a:rPr sz="1500" b="1">
                <a:solidFill>
                  <a:srgbClr val="0F2B5C"/>
                </a:solidFill>
                <a:latin typeface="Times New Roman"/>
              </a:rPr>
              <a:t>• Real Images (RAISE): </a:t>
            </a:r>
            <a:r>
              <a:rPr sz="1500" b="0">
                <a:solidFill>
                  <a:srgbClr val="1E293B"/>
                </a:solidFill>
                <a:latin typeface="Times New Roman"/>
              </a:rPr>
              <a:t>1,000 raw, uncompressed camera photos.</a:t>
            </a:r>
          </a:p>
          <a:p>
            <a:pPr algn="l">
              <a:spcAft>
                <a:spcPts val="1300"/>
              </a:spcAft>
            </a:pPr>
            <a:r>
              <a:rPr sz="1500" b="1">
                <a:solidFill>
                  <a:srgbClr val="0F2B5C"/>
                </a:solidFill>
                <a:latin typeface="Times New Roman"/>
              </a:rPr>
              <a:t>• Fake Images (Synthbuster): </a:t>
            </a:r>
            <a:r>
              <a:rPr sz="1500" b="0">
                <a:solidFill>
                  <a:srgbClr val="1E293B"/>
                </a:solidFill>
                <a:latin typeface="Times New Roman"/>
              </a:rPr>
              <a:t>1,000 images from new commercial models: DALL-E 2/3, Adobe Firefly, Midjourney v5, SD-XL.</a:t>
            </a:r>
          </a:p>
          <a:p>
            <a:pPr algn="l">
              <a:spcAft>
                <a:spcPts val="1300"/>
              </a:spcAft>
            </a:pPr>
            <a:r>
              <a:rPr sz="1500" b="1">
                <a:solidFill>
                  <a:srgbClr val="0F2B5C"/>
                </a:solidFill>
                <a:latin typeface="Times New Roman"/>
              </a:rPr>
              <a:t>• Scientific Goal: </a:t>
            </a:r>
            <a:r>
              <a:rPr sz="1500" b="0">
                <a:solidFill>
                  <a:srgbClr val="1E293B"/>
                </a:solidFill>
                <a:latin typeface="Times New Roman"/>
              </a:rPr>
              <a:t>Evaluates real-world generalization on brand-new generative tools.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0284C7"/>
                </a:solidFill>
                <a:latin typeface="Times New Roman"/>
              </a:rPr>
              <a:t>INDUSTRIAL TRAINING PRESENTATION</a:t>
            </a:r>
          </a:p>
          <a:p>
            <a:r>
              <a:rPr sz="2800" b="1">
                <a:solidFill>
                  <a:srgbClr val="0F2B5C"/>
                </a:solidFill>
                <a:latin typeface="Times New Roman"/>
              </a:rPr>
              <a:t>Explainable AI (XAI) &amp; EXIF Metadata Verification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5212080" cy="512064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4754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300"/>
              </a:spcAft>
            </a:pPr>
            <a:r>
              <a:rPr sz="1900" b="1">
                <a:solidFill>
                  <a:srgbClr val="0284C7"/>
                </a:solidFill>
                <a:latin typeface="Times New Roman"/>
              </a:rPr>
              <a:t>VISUAL &amp; FREQUENCY EXPLAINABILITY</a:t>
            </a:r>
          </a:p>
          <a:p>
            <a:pPr algn="l">
              <a:spcAft>
                <a:spcPts val="1300"/>
              </a:spcAft>
            </a:pPr>
            <a:r>
              <a:rPr sz="1500" b="1">
                <a:solidFill>
                  <a:srgbClr val="0F2B5C"/>
                </a:solidFill>
                <a:latin typeface="Times New Roman"/>
              </a:rPr>
              <a:t>• Grad-CAM Heatmaps: </a:t>
            </a:r>
            <a:r>
              <a:rPr sz="1500" b="0">
                <a:solidFill>
                  <a:srgbClr val="1E293B"/>
                </a:solidFill>
                <a:latin typeface="Times New Roman"/>
              </a:rPr>
              <a:t>Highlights the exact pixel areas (eyes, skin, borders) that made the model mark the image as fake.</a:t>
            </a:r>
          </a:p>
          <a:p>
            <a:pPr algn="l">
              <a:spcAft>
                <a:spcPts val="1300"/>
              </a:spcAft>
            </a:pPr>
            <a:r>
              <a:rPr sz="1500" b="1">
                <a:solidFill>
                  <a:srgbClr val="0F2B5C"/>
                </a:solidFill>
                <a:latin typeface="Times New Roman"/>
              </a:rPr>
              <a:t>• 2D Fourier Spectrum: </a:t>
            </a:r>
            <a:r>
              <a:rPr sz="1500" b="0">
                <a:solidFill>
                  <a:srgbClr val="1E293B"/>
                </a:solidFill>
                <a:latin typeface="Times New Roman"/>
              </a:rPr>
              <a:t>Shows frequency patterns; AI images often display unnatural grid spikes.</a:t>
            </a:r>
          </a:p>
          <a:p>
            <a:pPr algn="l">
              <a:spcAft>
                <a:spcPts val="1300"/>
              </a:spcAft>
            </a:pPr>
            <a:r>
              <a:rPr sz="1500" b="1">
                <a:solidFill>
                  <a:srgbClr val="0F2B5C"/>
                </a:solidFill>
                <a:latin typeface="Times New Roman"/>
              </a:rPr>
              <a:t>• Error Level Analysis (ELA): </a:t>
            </a:r>
            <a:r>
              <a:rPr sz="1500" b="0">
                <a:solidFill>
                  <a:srgbClr val="1E293B"/>
                </a:solidFill>
                <a:latin typeface="Times New Roman"/>
              </a:rPr>
              <a:t>Highlights areas with inconsistent JPEG compression.</a:t>
            </a:r>
          </a:p>
          <a:p>
            <a:pPr algn="l">
              <a:spcAft>
                <a:spcPts val="1300"/>
              </a:spcAft>
            </a:pPr>
            <a:r>
              <a:rPr sz="1500" b="1">
                <a:solidFill>
                  <a:srgbClr val="0F2B5C"/>
                </a:solidFill>
                <a:latin typeface="Times New Roman"/>
              </a:rPr>
              <a:t>• User Benefit: </a:t>
            </a:r>
            <a:r>
              <a:rPr sz="1500" b="0">
                <a:solidFill>
                  <a:srgbClr val="1E293B"/>
                </a:solidFill>
                <a:latin typeface="Times New Roman"/>
              </a:rPr>
              <a:t>Users see clear visual evidence instead of just an opaque score.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280160"/>
            <a:ext cx="5212080" cy="512064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463040"/>
            <a:ext cx="4754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300"/>
              </a:spcAft>
            </a:pPr>
            <a:r>
              <a:rPr sz="1900" b="1">
                <a:solidFill>
                  <a:srgbClr val="0284C7"/>
                </a:solidFill>
                <a:latin typeface="Times New Roman"/>
              </a:rPr>
              <a:t>6-POINT CAMERA EXIF AUDIT</a:t>
            </a:r>
          </a:p>
          <a:p>
            <a:pPr algn="l">
              <a:spcAft>
                <a:spcPts val="1300"/>
              </a:spcAft>
            </a:pPr>
            <a:r>
              <a:rPr sz="1500" b="1">
                <a:solidFill>
                  <a:srgbClr val="0F2B5C"/>
                </a:solidFill>
                <a:latin typeface="Times New Roman"/>
              </a:rPr>
              <a:t>• 6 Tags Checked: </a:t>
            </a:r>
            <a:r>
              <a:rPr sz="1500" b="0">
                <a:solidFill>
                  <a:srgbClr val="1E293B"/>
                </a:solidFill>
                <a:latin typeface="Times New Roman"/>
              </a:rPr>
              <a:t>Camera Make, Model, Lens, ISO/Exposure, Timestamp, and Software Signature.</a:t>
            </a:r>
          </a:p>
          <a:p>
            <a:pPr algn="l">
              <a:spcAft>
                <a:spcPts val="1300"/>
              </a:spcAft>
            </a:pPr>
            <a:r>
              <a:rPr sz="1500" b="1">
                <a:solidFill>
                  <a:srgbClr val="0F2B5C"/>
                </a:solidFill>
                <a:latin typeface="Times New Roman"/>
              </a:rPr>
              <a:t>• Real Photos: </a:t>
            </a:r>
            <a:r>
              <a:rPr sz="1500" b="0">
                <a:solidFill>
                  <a:srgbClr val="1E293B"/>
                </a:solidFill>
                <a:latin typeface="Times New Roman"/>
              </a:rPr>
              <a:t>Preserve 4 to 6 valid camera hardware tags.</a:t>
            </a:r>
          </a:p>
          <a:p>
            <a:pPr algn="l">
              <a:spcAft>
                <a:spcPts val="1300"/>
              </a:spcAft>
            </a:pPr>
            <a:r>
              <a:rPr sz="1500" b="1">
                <a:solidFill>
                  <a:srgbClr val="0F2B5C"/>
                </a:solidFill>
                <a:latin typeface="Times New Roman"/>
              </a:rPr>
              <a:t>• AI Images: </a:t>
            </a:r>
            <a:r>
              <a:rPr sz="1500" b="0">
                <a:solidFill>
                  <a:srgbClr val="1E293B"/>
                </a:solidFill>
                <a:latin typeface="Times New Roman"/>
              </a:rPr>
              <a:t>Score 0 to 1 out of 6 (generative tools strip hardware metadata).</a:t>
            </a:r>
          </a:p>
          <a:p>
            <a:pPr algn="l">
              <a:spcAft>
                <a:spcPts val="1300"/>
              </a:spcAft>
            </a:pPr>
            <a:r>
              <a:rPr sz="1500" b="1">
                <a:solidFill>
                  <a:srgbClr val="0F2B5C"/>
                </a:solidFill>
                <a:latin typeface="Times New Roman"/>
              </a:rPr>
              <a:t>• Multi-Layer Defense: </a:t>
            </a:r>
            <a:r>
              <a:rPr sz="1500" b="0">
                <a:solidFill>
                  <a:srgbClr val="1E293B"/>
                </a:solidFill>
                <a:latin typeface="Times New Roman"/>
              </a:rPr>
              <a:t>Combined with visual scores for reliable forensic verification.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0284C7"/>
                </a:solidFill>
                <a:latin typeface="Times New Roman"/>
              </a:rPr>
              <a:t>INDUSTRIAL TRAINING PRESENTATION</a:t>
            </a:r>
          </a:p>
          <a:p>
            <a:r>
              <a:rPr sz="2800" b="1">
                <a:solidFill>
                  <a:srgbClr val="0F2B5C"/>
                </a:solidFill>
                <a:latin typeface="Times New Roman"/>
              </a:rPr>
              <a:t>Model Training &amp; Loss Convergence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slide_14_training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5943600" cy="51206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949440" y="1280160"/>
            <a:ext cx="4480560" cy="512064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78040" y="1463040"/>
            <a:ext cx="4023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900" b="1">
                <a:solidFill>
                  <a:srgbClr val="0284C7"/>
                </a:solidFill>
                <a:latin typeface="Times New Roman"/>
              </a:rPr>
              <a:t>KEY TRAINING RESULTS</a:t>
            </a:r>
          </a:p>
          <a:p>
            <a:pPr algn="l">
              <a:spcAft>
                <a:spcPts val="1400"/>
              </a:spcAft>
            </a:pPr>
            <a:r>
              <a:rPr sz="1500" b="1">
                <a:solidFill>
                  <a:srgbClr val="0F2B5C"/>
                </a:solidFill>
                <a:latin typeface="Times New Roman"/>
              </a:rPr>
              <a:t>• 87.44% Validation Accuracy: </a:t>
            </a:r>
            <a:r>
              <a:rPr sz="1500" b="0">
                <a:solidFill>
                  <a:srgbClr val="1E293B"/>
                </a:solidFill>
                <a:latin typeface="Times New Roman"/>
              </a:rPr>
              <a:t>Reached peak accuracy on the GenImage validation split.</a:t>
            </a:r>
          </a:p>
          <a:p>
            <a:pPr algn="l">
              <a:spcAft>
                <a:spcPts val="1400"/>
              </a:spcAft>
            </a:pPr>
            <a:r>
              <a:rPr sz="1500" b="1">
                <a:solidFill>
                  <a:srgbClr val="0F2B5C"/>
                </a:solidFill>
                <a:latin typeface="Times New Roman"/>
              </a:rPr>
              <a:t>• 0.316 Validation Loss: </a:t>
            </a:r>
            <a:r>
              <a:rPr sz="1500" b="0">
                <a:solidFill>
                  <a:srgbClr val="1E293B"/>
                </a:solidFill>
                <a:latin typeface="Times New Roman"/>
              </a:rPr>
              <a:t>Steady loss decrease without overfitting.</a:t>
            </a:r>
          </a:p>
          <a:p>
            <a:pPr algn="l">
              <a:spcAft>
                <a:spcPts val="1400"/>
              </a:spcAft>
            </a:pPr>
            <a:r>
              <a:rPr sz="1500" b="1">
                <a:solidFill>
                  <a:srgbClr val="0F2B5C"/>
                </a:solidFill>
                <a:latin typeface="Times New Roman"/>
              </a:rPr>
              <a:t>• Best Checkpoint: </a:t>
            </a:r>
            <a:r>
              <a:rPr sz="1500" b="0">
                <a:solidFill>
                  <a:srgbClr val="1E293B"/>
                </a:solidFill>
                <a:latin typeface="Times New Roman"/>
              </a:rPr>
              <a:t>Locked at Epoch 8 with an ROC-AUC of 0.9434.</a:t>
            </a:r>
          </a:p>
          <a:p>
            <a:pPr algn="l">
              <a:spcAft>
                <a:spcPts val="1400"/>
              </a:spcAft>
            </a:pPr>
            <a:r>
              <a:rPr sz="1500" b="1">
                <a:solidFill>
                  <a:srgbClr val="0F2B5C"/>
                </a:solidFill>
                <a:latin typeface="Times New Roman"/>
              </a:rPr>
              <a:t>• Optimizer: </a:t>
            </a:r>
            <a:r>
              <a:rPr sz="1500" b="0">
                <a:solidFill>
                  <a:srgbClr val="1E293B"/>
                </a:solidFill>
                <a:latin typeface="Times New Roman"/>
              </a:rPr>
              <a:t>AdamW with Cosine Annealing learning rate schedule.</a:t>
            </a:r>
          </a:p>
          <a:p>
            <a:pPr algn="l">
              <a:spcAft>
                <a:spcPts val="1400"/>
              </a:spcAft>
            </a:pPr>
            <a:r>
              <a:rPr sz="1500" b="1">
                <a:solidFill>
                  <a:srgbClr val="0F2B5C"/>
                </a:solidFill>
                <a:latin typeface="Times New Roman"/>
              </a:rPr>
              <a:t>• GPU Acceleration: </a:t>
            </a:r>
            <a:r>
              <a:rPr sz="1500" b="0">
                <a:solidFill>
                  <a:srgbClr val="1E293B"/>
                </a:solidFill>
                <a:latin typeface="Times New Roman"/>
              </a:rPr>
              <a:t>Trained efficiently on local NVIDIA GeForce RTX 4050 GPU using mixed precision (AMP).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0284C7"/>
                </a:solidFill>
                <a:latin typeface="Times New Roman"/>
              </a:rPr>
              <a:t>INDUSTRIAL TRAINING PRESENTATION</a:t>
            </a:r>
          </a:p>
          <a:p>
            <a:r>
              <a:rPr sz="2800" b="1">
                <a:solidFill>
                  <a:srgbClr val="0F2B5C"/>
                </a:solidFill>
                <a:latin typeface="Times New Roman"/>
              </a:rPr>
              <a:t>Internal Benchmark: GenImage Test Results (3,250 Images)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slide_15_internal_genimage_evalu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10698480" cy="3429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4892040"/>
            <a:ext cx="2606040" cy="150876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4983480"/>
            <a:ext cx="23317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0F2B5C"/>
                </a:solidFill>
                <a:latin typeface="Times New Roman"/>
              </a:rPr>
              <a:t>TEST ACCURACY</a:t>
            </a:r>
          </a:p>
          <a:p>
            <a:pPr algn="ctr">
              <a:spcAft>
                <a:spcPts val="200"/>
              </a:spcAft>
            </a:pPr>
            <a:r>
              <a:rPr sz="2200" b="1">
                <a:solidFill>
                  <a:srgbClr val="0284C7"/>
                </a:solidFill>
                <a:latin typeface="Times New Roman"/>
              </a:rPr>
              <a:t>73.75 %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1E293B"/>
                </a:solidFill>
                <a:latin typeface="Times New Roman"/>
              </a:rPr>
              <a:t>On 3,250 held-out images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9000" y="4892040"/>
            <a:ext cx="2606040" cy="150876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66160" y="4983480"/>
            <a:ext cx="23317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0F2B5C"/>
                </a:solidFill>
                <a:latin typeface="Times New Roman"/>
              </a:rPr>
              <a:t>TEST PRECISION</a:t>
            </a:r>
          </a:p>
          <a:p>
            <a:pPr algn="ctr">
              <a:spcAft>
                <a:spcPts val="200"/>
              </a:spcAft>
            </a:pPr>
            <a:r>
              <a:rPr sz="2200" b="1">
                <a:solidFill>
                  <a:srgbClr val="16A34A"/>
                </a:solidFill>
                <a:latin typeface="Times New Roman"/>
              </a:rPr>
              <a:t>92.11 %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1E293B"/>
                </a:solidFill>
                <a:latin typeface="Times New Roman"/>
              </a:rPr>
              <a:t>Very low false alarms on real photos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4892040"/>
            <a:ext cx="2606040" cy="150876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63640" y="4983480"/>
            <a:ext cx="23317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0F2B5C"/>
                </a:solidFill>
                <a:latin typeface="Times New Roman"/>
              </a:rPr>
              <a:t>TEST RECALL</a:t>
            </a:r>
          </a:p>
          <a:p>
            <a:pPr algn="ctr">
              <a:spcAft>
                <a:spcPts val="200"/>
              </a:spcAft>
            </a:pPr>
            <a:r>
              <a:rPr sz="2200" b="1">
                <a:solidFill>
                  <a:srgbClr val="D97706"/>
                </a:solidFill>
                <a:latin typeface="Times New Roman"/>
              </a:rPr>
              <a:t>64.67 %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1E293B"/>
                </a:solidFill>
                <a:latin typeface="Times New Roman"/>
              </a:rPr>
              <a:t>Catches ~2 out of 3 fakes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23960" y="4892040"/>
            <a:ext cx="2606040" cy="150876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61120" y="4983480"/>
            <a:ext cx="23317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0F2B5C"/>
                </a:solidFill>
                <a:latin typeface="Times New Roman"/>
              </a:rPr>
              <a:t>ROC-AUC SCORE</a:t>
            </a:r>
          </a:p>
          <a:p>
            <a:pPr algn="ctr">
              <a:spcAft>
                <a:spcPts val="200"/>
              </a:spcAft>
            </a:pPr>
            <a:r>
              <a:rPr sz="2200" b="1">
                <a:solidFill>
                  <a:srgbClr val="0284C7"/>
                </a:solidFill>
                <a:latin typeface="Times New Roman"/>
              </a:rPr>
              <a:t>0.8851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1E293B"/>
                </a:solidFill>
                <a:latin typeface="Times New Roman"/>
              </a:rPr>
              <a:t>High real vs fake separation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0284C7"/>
                </a:solidFill>
                <a:latin typeface="Times New Roman"/>
              </a:rPr>
              <a:t>INDUSTRIAL TRAINING PRESENTATION</a:t>
            </a:r>
          </a:p>
          <a:p>
            <a:r>
              <a:rPr sz="2800" b="1">
                <a:solidFill>
                  <a:srgbClr val="0F2B5C"/>
                </a:solidFill>
                <a:latin typeface="Times New Roman"/>
              </a:rPr>
              <a:t>External Benchmark: Testing on Unseen Generators (2,000 Images)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slide_16_external_generalization_evalu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10698480" cy="3429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4892040"/>
            <a:ext cx="2606040" cy="150876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4983480"/>
            <a:ext cx="23317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0F2B5C"/>
                </a:solidFill>
                <a:latin typeface="Times New Roman"/>
              </a:rPr>
              <a:t>UNSEEN ACCURACY</a:t>
            </a:r>
          </a:p>
          <a:p>
            <a:pPr algn="ctr">
              <a:spcAft>
                <a:spcPts val="200"/>
              </a:spcAft>
            </a:pPr>
            <a:r>
              <a:rPr sz="2000" b="1">
                <a:solidFill>
                  <a:srgbClr val="0284C7"/>
                </a:solidFill>
                <a:latin typeface="Times New Roman"/>
              </a:rPr>
              <a:t>63.05 %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1E293B"/>
                </a:solidFill>
                <a:latin typeface="Times New Roman"/>
              </a:rPr>
              <a:t>On completely new models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9000" y="4892040"/>
            <a:ext cx="2606040" cy="150876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66160" y="4983480"/>
            <a:ext cx="23317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0F2B5C"/>
                </a:solidFill>
                <a:latin typeface="Times New Roman"/>
              </a:rPr>
              <a:t>REAL PHOTO ACCURACY</a:t>
            </a:r>
          </a:p>
          <a:p>
            <a:pPr algn="ctr">
              <a:spcAft>
                <a:spcPts val="200"/>
              </a:spcAft>
            </a:pPr>
            <a:r>
              <a:rPr sz="2000" b="1">
                <a:solidFill>
                  <a:srgbClr val="16A34A"/>
                </a:solidFill>
                <a:latin typeface="Times New Roman"/>
              </a:rPr>
              <a:t>73.80 %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1E293B"/>
                </a:solidFill>
                <a:latin typeface="Times New Roman"/>
              </a:rPr>
              <a:t>On raw camera photos (RAISE)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4892040"/>
            <a:ext cx="2606040" cy="150876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63640" y="4983480"/>
            <a:ext cx="23317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0F2B5C"/>
                </a:solidFill>
                <a:latin typeface="Times New Roman"/>
              </a:rPr>
              <a:t>ROC-AUC SCORE</a:t>
            </a:r>
          </a:p>
          <a:p>
            <a:pPr algn="ctr">
              <a:spcAft>
                <a:spcPts val="200"/>
              </a:spcAft>
            </a:pPr>
            <a:r>
              <a:rPr sz="2000" b="1">
                <a:solidFill>
                  <a:srgbClr val="D97706"/>
                </a:solidFill>
                <a:latin typeface="Times New Roman"/>
              </a:rPr>
              <a:t>0.6763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1E293B"/>
                </a:solidFill>
                <a:latin typeface="Times New Roman"/>
              </a:rPr>
              <a:t>Discrimination on new generators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23960" y="4892040"/>
            <a:ext cx="2606040" cy="150876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61120" y="4983480"/>
            <a:ext cx="23317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0F2B5C"/>
                </a:solidFill>
                <a:latin typeface="Times New Roman"/>
              </a:rPr>
              <a:t>KEY TAKEAWAY</a:t>
            </a:r>
          </a:p>
          <a:p>
            <a:pPr algn="ctr">
              <a:spcAft>
                <a:spcPts val="200"/>
              </a:spcAft>
            </a:pPr>
            <a:r>
              <a:rPr sz="2000" b="1">
                <a:solidFill>
                  <a:srgbClr val="0284C7"/>
                </a:solidFill>
                <a:latin typeface="Times New Roman"/>
              </a:rPr>
              <a:t>VALIDATED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1E293B"/>
                </a:solidFill>
                <a:latin typeface="Times New Roman"/>
              </a:rPr>
              <a:t>Multi-evidence bridges domain gap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0284C7"/>
                </a:solidFill>
                <a:latin typeface="Times New Roman"/>
              </a:rPr>
              <a:t>INDUSTRIAL TRAINING PRESENTATION</a:t>
            </a:r>
          </a:p>
          <a:p>
            <a:r>
              <a:rPr sz="2800" b="1">
                <a:solidFill>
                  <a:srgbClr val="0F2B5C"/>
                </a:solidFill>
                <a:latin typeface="Times New Roman"/>
              </a:rPr>
              <a:t>Robustness Testing: Performance Under Degradation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slide_17_robustness_benchmar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5303520" cy="51206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217920" y="1280160"/>
            <a:ext cx="5212080" cy="512064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46520" y="1463040"/>
            <a:ext cx="4754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300"/>
              </a:spcAft>
            </a:pPr>
            <a:r>
              <a:rPr sz="1900" b="1">
                <a:solidFill>
                  <a:srgbClr val="0284C7"/>
                </a:solidFill>
                <a:latin typeface="Times New Roman"/>
              </a:rPr>
              <a:t>ROBUSTNESS FINDINGS</a:t>
            </a:r>
          </a:p>
          <a:p>
            <a:pPr algn="l">
              <a:spcAft>
                <a:spcPts val="1300"/>
              </a:spcAft>
            </a:pPr>
            <a:r>
              <a:rPr sz="1500" b="1">
                <a:solidFill>
                  <a:srgbClr val="0F2B5C"/>
                </a:solidFill>
                <a:latin typeface="Times New Roman"/>
              </a:rPr>
              <a:t>• JPEG Compression: </a:t>
            </a:r>
            <a:r>
              <a:rPr sz="1500" b="0">
                <a:solidFill>
                  <a:srgbClr val="1E293B"/>
                </a:solidFill>
                <a:latin typeface="Times New Roman"/>
              </a:rPr>
              <a:t>Stays reliable (&gt;72% accuracy) at quality 75-90; drops under heavy compression (quality 50).</a:t>
            </a:r>
          </a:p>
          <a:p>
            <a:pPr algn="l">
              <a:spcAft>
                <a:spcPts val="1300"/>
              </a:spcAft>
            </a:pPr>
            <a:r>
              <a:rPr sz="1500" b="1">
                <a:solidFill>
                  <a:srgbClr val="0F2B5C"/>
                </a:solidFill>
                <a:latin typeface="Times New Roman"/>
              </a:rPr>
              <a:t>• Gaussian Blur: </a:t>
            </a:r>
            <a:r>
              <a:rPr sz="1500" b="0">
                <a:solidFill>
                  <a:srgbClr val="1E293B"/>
                </a:solidFill>
                <a:latin typeface="Times New Roman"/>
              </a:rPr>
              <a:t>Blurring washes out fine details, causing a slight drop in confidence.</a:t>
            </a:r>
          </a:p>
          <a:p>
            <a:pPr algn="l">
              <a:spcAft>
                <a:spcPts val="1300"/>
              </a:spcAft>
            </a:pPr>
            <a:r>
              <a:rPr sz="1500" b="1">
                <a:solidFill>
                  <a:srgbClr val="0F2B5C"/>
                </a:solidFill>
                <a:latin typeface="Times New Roman"/>
              </a:rPr>
              <a:t>• Sensor Noise: </a:t>
            </a:r>
            <a:r>
              <a:rPr sz="1500" b="0">
                <a:solidFill>
                  <a:srgbClr val="1E293B"/>
                </a:solidFill>
                <a:latin typeface="Times New Roman"/>
              </a:rPr>
              <a:t>Model remains stable under normal camera noise levels (sigma &lt;= 10).</a:t>
            </a:r>
          </a:p>
          <a:p>
            <a:pPr algn="l">
              <a:spcAft>
                <a:spcPts val="1300"/>
              </a:spcAft>
            </a:pPr>
            <a:r>
              <a:rPr sz="1500" b="1">
                <a:solidFill>
                  <a:srgbClr val="0F2B5C"/>
                </a:solidFill>
                <a:latin typeface="Times New Roman"/>
              </a:rPr>
              <a:t>• Image Resizing: </a:t>
            </a:r>
            <a:r>
              <a:rPr sz="1500" b="0">
                <a:solidFill>
                  <a:srgbClr val="1E293B"/>
                </a:solidFill>
                <a:latin typeface="Times New Roman"/>
              </a:rPr>
              <a:t>Downscaling below 256x256 removes key texture cues; native resolution is recommended.</a:t>
            </a:r>
          </a:p>
          <a:p>
            <a:pPr algn="l">
              <a:spcAft>
                <a:spcPts val="1300"/>
              </a:spcAft>
            </a:pPr>
            <a:r>
              <a:rPr sz="1500" b="1">
                <a:solidFill>
                  <a:srgbClr val="0F2B5C"/>
                </a:solidFill>
                <a:latin typeface="Times New Roman"/>
              </a:rPr>
              <a:t>• Multi-Evidence Defense: </a:t>
            </a:r>
            <a:r>
              <a:rPr sz="1500" b="0">
                <a:solidFill>
                  <a:srgbClr val="1E293B"/>
                </a:solidFill>
                <a:latin typeface="Times New Roman"/>
              </a:rPr>
              <a:t>When compression damages frequency cues, deep learning and EXIF checks maintain accuracy.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0284C7"/>
                </a:solidFill>
                <a:latin typeface="Times New Roman"/>
              </a:rPr>
              <a:t>INDUSTRIAL TRAINING PRESENTATION</a:t>
            </a:r>
          </a:p>
          <a:p>
            <a:r>
              <a:rPr sz="2800" b="1">
                <a:solidFill>
                  <a:srgbClr val="0F2B5C"/>
                </a:solidFill>
                <a:latin typeface="Times New Roman"/>
              </a:rPr>
              <a:t>Working Web Application: Single &amp; Batch Image Interface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slide_18_dashboard_single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5212080" cy="4069080"/>
          </a:xfrm>
          <a:prstGeom prst="rect">
            <a:avLst/>
          </a:prstGeom>
        </p:spPr>
      </p:pic>
      <p:pic>
        <p:nvPicPr>
          <p:cNvPr id="6" name="Picture 5" descr="slide_18_dashboard_batch_analy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80160"/>
            <a:ext cx="5212080" cy="40690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5440680"/>
            <a:ext cx="5212080" cy="96012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553212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F2B5C"/>
                </a:solidFill>
                <a:latin typeface="Times New Roman"/>
              </a:rPr>
              <a:t>SINGLE-IMAGE SCAN: </a:t>
            </a:r>
            <a:r>
              <a:rPr sz="1300" b="0">
                <a:solidFill>
                  <a:srgbClr val="1E293B"/>
                </a:solidFill>
                <a:latin typeface="Times New Roman"/>
              </a:rPr>
              <a:t>Displays input image, Grad-CAM attention heatmap, 2D FFT spectrum, ELA map, and camera EXIF audit.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5440680"/>
            <a:ext cx="5212080" cy="96012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553212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F2B5C"/>
                </a:solidFill>
                <a:latin typeface="Times New Roman"/>
              </a:rPr>
              <a:t>BATCH QUEUE: </a:t>
            </a:r>
            <a:r>
              <a:rPr sz="1300" b="0">
                <a:solidFill>
                  <a:srgbClr val="1E293B"/>
                </a:solidFill>
                <a:latin typeface="Times New Roman"/>
              </a:rPr>
              <a:t>Processes up to 20 images in parallel (~2.5s total) with clear Authentic / Synthetic status badges.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0284C7"/>
                </a:solidFill>
                <a:latin typeface="Times New Roman"/>
              </a:rPr>
              <a:t>INDUSTRIAL TRAINING PRESENTATION</a:t>
            </a:r>
          </a:p>
          <a:p>
            <a:r>
              <a:rPr sz="2800" b="1">
                <a:solidFill>
                  <a:srgbClr val="0F2B5C"/>
                </a:solidFill>
                <a:latin typeface="Times New Roman"/>
              </a:rPr>
              <a:t>Conclusion &amp; 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5212080" cy="512064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4754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300"/>
              </a:spcAft>
            </a:pPr>
            <a:r>
              <a:rPr sz="1900" b="1">
                <a:solidFill>
                  <a:srgbClr val="0284C7"/>
                </a:solidFill>
                <a:latin typeface="Times New Roman"/>
              </a:rPr>
              <a:t>SUMMARY OF WORK DONE</a:t>
            </a:r>
          </a:p>
          <a:p>
            <a:pPr algn="l">
              <a:spcAft>
                <a:spcPts val="1300"/>
              </a:spcAft>
            </a:pPr>
            <a:r>
              <a:rPr sz="1500" b="1">
                <a:solidFill>
                  <a:srgbClr val="0F2B5C"/>
                </a:solidFill>
                <a:latin typeface="Times New Roman"/>
              </a:rPr>
              <a:t>• End-to-End Detector: </a:t>
            </a:r>
            <a:r>
              <a:rPr sz="1500" b="0">
                <a:solidFill>
                  <a:srgbClr val="1E293B"/>
                </a:solidFill>
                <a:latin typeface="Times New Roman"/>
              </a:rPr>
              <a:t>Built a working tool combining EfficientNet-B4 with 2D FFT and ELA forensics.</a:t>
            </a:r>
          </a:p>
          <a:p>
            <a:pPr algn="l">
              <a:spcAft>
                <a:spcPts val="1300"/>
              </a:spcAft>
            </a:pPr>
            <a:r>
              <a:rPr sz="1500" b="1">
                <a:solidFill>
                  <a:srgbClr val="0F2B5C"/>
                </a:solidFill>
                <a:latin typeface="Times New Roman"/>
              </a:rPr>
              <a:t>• High Accuracy: </a:t>
            </a:r>
            <a:r>
              <a:rPr sz="1500" b="0">
                <a:solidFill>
                  <a:srgbClr val="1E293B"/>
                </a:solidFill>
                <a:latin typeface="Times New Roman"/>
              </a:rPr>
              <a:t>Achieved 87.44% validation accuracy and 92.11% precision on standard benchmarks.</a:t>
            </a:r>
          </a:p>
          <a:p>
            <a:pPr algn="l">
              <a:spcAft>
                <a:spcPts val="1300"/>
              </a:spcAft>
            </a:pPr>
            <a:r>
              <a:rPr sz="1500" b="1">
                <a:solidFill>
                  <a:srgbClr val="0F2B5C"/>
                </a:solidFill>
                <a:latin typeface="Times New Roman"/>
              </a:rPr>
              <a:t>• Visual Heatmaps: </a:t>
            </a:r>
            <a:r>
              <a:rPr sz="1500" b="0">
                <a:solidFill>
                  <a:srgbClr val="1E293B"/>
                </a:solidFill>
                <a:latin typeface="Times New Roman"/>
              </a:rPr>
              <a:t>Grad-CAM shows users exactly which parts of the image look fake.</a:t>
            </a:r>
          </a:p>
          <a:p>
            <a:pPr algn="l">
              <a:spcAft>
                <a:spcPts val="1300"/>
              </a:spcAft>
            </a:pPr>
            <a:r>
              <a:rPr sz="1500" b="1">
                <a:solidFill>
                  <a:srgbClr val="0F2B5C"/>
                </a:solidFill>
                <a:latin typeface="Times New Roman"/>
              </a:rPr>
              <a:t>• Fast Local Speed: </a:t>
            </a:r>
            <a:r>
              <a:rPr sz="1500" b="0">
                <a:solidFill>
                  <a:srgbClr val="1E293B"/>
                </a:solidFill>
                <a:latin typeface="Times New Roman"/>
              </a:rPr>
              <a:t>Runs in under 150ms per image on an NVIDIA RTX 4050 GPU.</a:t>
            </a:r>
          </a:p>
          <a:p>
            <a:pPr algn="l">
              <a:spcAft>
                <a:spcPts val="1300"/>
              </a:spcAft>
            </a:pPr>
            <a:r>
              <a:rPr sz="1500" b="1">
                <a:solidFill>
                  <a:srgbClr val="0F2B5C"/>
                </a:solidFill>
                <a:latin typeface="Times New Roman"/>
              </a:rPr>
              <a:t>• Web Interface: </a:t>
            </a:r>
            <a:r>
              <a:rPr sz="1500" b="0">
                <a:solidFill>
                  <a:srgbClr val="1E293B"/>
                </a:solidFill>
                <a:latin typeface="Times New Roman"/>
              </a:rPr>
              <a:t>Easy-to-use Streamlit dashboard with batch testing and downloadable PDF reports.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280160"/>
            <a:ext cx="5212080" cy="512064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463040"/>
            <a:ext cx="4754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300"/>
              </a:spcAft>
            </a:pPr>
            <a:r>
              <a:rPr sz="1900" b="1">
                <a:solidFill>
                  <a:srgbClr val="0284C7"/>
                </a:solidFill>
                <a:latin typeface="Times New Roman"/>
              </a:rPr>
              <a:t>FUTURE SCOPE &amp; EXTENSIONS</a:t>
            </a:r>
          </a:p>
          <a:p>
            <a:pPr algn="l">
              <a:spcAft>
                <a:spcPts val="1300"/>
              </a:spcAft>
            </a:pPr>
            <a:r>
              <a:rPr sz="1500" b="1">
                <a:solidFill>
                  <a:srgbClr val="0F2B5C"/>
                </a:solidFill>
                <a:latin typeface="Times New Roman"/>
              </a:rPr>
              <a:t>• Video Deepfake Detection: </a:t>
            </a:r>
            <a:r>
              <a:rPr sz="1500" b="0">
                <a:solidFill>
                  <a:srgbClr val="1E293B"/>
                </a:solidFill>
                <a:latin typeface="Times New Roman"/>
              </a:rPr>
              <a:t>Extend the model to detect face swaps in video clips using temporal frame analysis.</a:t>
            </a:r>
          </a:p>
          <a:p>
            <a:pPr algn="l">
              <a:spcAft>
                <a:spcPts val="1300"/>
              </a:spcAft>
            </a:pPr>
            <a:r>
              <a:rPr sz="1500" b="1">
                <a:solidFill>
                  <a:srgbClr val="0F2B5C"/>
                </a:solidFill>
                <a:latin typeface="Times New Roman"/>
              </a:rPr>
              <a:t>• Voice Clone Detection: </a:t>
            </a:r>
            <a:r>
              <a:rPr sz="1500" b="0">
                <a:solidFill>
                  <a:srgbClr val="1E293B"/>
                </a:solidFill>
                <a:latin typeface="Times New Roman"/>
              </a:rPr>
              <a:t>Integrate audio spectrogram models to detect AI voice clones in phone scams.</a:t>
            </a:r>
          </a:p>
          <a:p>
            <a:pPr algn="l">
              <a:spcAft>
                <a:spcPts val="1300"/>
              </a:spcAft>
            </a:pPr>
            <a:r>
              <a:rPr sz="1500" b="1">
                <a:solidFill>
                  <a:srgbClr val="0F2B5C"/>
                </a:solidFill>
                <a:latin typeface="Times New Roman"/>
              </a:rPr>
              <a:t>• Browser Extension: </a:t>
            </a:r>
            <a:r>
              <a:rPr sz="1500" b="0">
                <a:solidFill>
                  <a:srgbClr val="1E293B"/>
                </a:solidFill>
                <a:latin typeface="Times New Roman"/>
              </a:rPr>
              <a:t>Package the model into a lightweight extension to verify online images in real time.</a:t>
            </a:r>
          </a:p>
          <a:p>
            <a:pPr algn="l">
              <a:spcAft>
                <a:spcPts val="1300"/>
              </a:spcAft>
            </a:pPr>
            <a:r>
              <a:rPr sz="1500" b="1">
                <a:solidFill>
                  <a:srgbClr val="0F2B5C"/>
                </a:solidFill>
                <a:latin typeface="Times New Roman"/>
              </a:rPr>
              <a:t>• Social Media Integration: </a:t>
            </a:r>
            <a:r>
              <a:rPr sz="1500" b="0">
                <a:solidFill>
                  <a:srgbClr val="1E293B"/>
                </a:solidFill>
                <a:latin typeface="Times New Roman"/>
              </a:rPr>
              <a:t>Automated content screening for high-volume platform moderation.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371600" y="1188720"/>
            <a:ext cx="9448495" cy="4572000"/>
          </a:xfrm>
          <a:prstGeom prst="rect">
            <a:avLst/>
          </a:prstGeom>
          <a:solidFill>
            <a:srgbClr val="F8FAFC"/>
          </a:solidFill>
          <a:ln w="2286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45920" y="3075057"/>
            <a:ext cx="889985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6000" b="1" dirty="0">
                <a:solidFill>
                  <a:srgbClr val="0284C7"/>
                </a:solidFill>
                <a:latin typeface="Times New Roman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1901</Words>
  <Application>Microsoft Office PowerPoint</Application>
  <PresentationFormat>Widescreen</PresentationFormat>
  <Paragraphs>190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Kunal Arya</cp:lastModifiedBy>
  <cp:revision>2</cp:revision>
  <dcterms:created xsi:type="dcterms:W3CDTF">2013-01-27T09:14:16Z</dcterms:created>
  <dcterms:modified xsi:type="dcterms:W3CDTF">2026-10-24T04:17:03Z</dcterms:modified>
  <cp:category/>
</cp:coreProperties>
</file>